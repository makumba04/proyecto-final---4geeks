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Roboto Bold" charset="1" panose="02000000000000000000"/>
      <p:regular r:id="rId18"/>
    </p:embeddedFont>
    <p:embeddedFont>
      <p:font typeface="Open Sans" charset="1" panose="020B0606030504020204"/>
      <p:regular r:id="rId19"/>
    </p:embeddedFont>
    <p:embeddedFont>
      <p:font typeface="Roboto" charset="1" panose="02000000000000000000"/>
      <p:regular r:id="rId20"/>
    </p:embeddedFont>
    <p:embeddedFont>
      <p:font typeface="Open Sans Bold" charset="1" panose="020B0806030504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4350" y="514350"/>
            <a:ext cx="17259300" cy="9258300"/>
            <a:chOff x="0" y="0"/>
            <a:chExt cx="4545659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5659" cy="2438400"/>
            </a:xfrm>
            <a:custGeom>
              <a:avLst/>
              <a:gdLst/>
              <a:ahLst/>
              <a:cxnLst/>
              <a:rect r="r" b="b" t="t" l="l"/>
              <a:pathLst>
                <a:path h="2438400" w="4545659">
                  <a:moveTo>
                    <a:pt x="0" y="0"/>
                  </a:moveTo>
                  <a:lnTo>
                    <a:pt x="4545659" y="0"/>
                  </a:lnTo>
                  <a:lnTo>
                    <a:pt x="454565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545659" cy="249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828439" y="1405216"/>
            <a:ext cx="12993088" cy="2554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70"/>
              </a:lnSpc>
            </a:pPr>
            <a:r>
              <a:rPr lang="en-US" sz="14907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De “Hackeado”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828439" y="6133032"/>
            <a:ext cx="10524767" cy="654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66"/>
              </a:lnSpc>
            </a:pPr>
            <a:r>
              <a:rPr lang="en-US" sz="3833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El Viaje de Seguridad de 4Geeks Academy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828439" y="3664125"/>
            <a:ext cx="12993088" cy="2554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70"/>
              </a:lnSpc>
            </a:pPr>
            <a:r>
              <a:rPr lang="en-US" sz="14907" b="true">
                <a:solidFill>
                  <a:srgbClr val="5271FF"/>
                </a:solidFill>
                <a:latin typeface="Roboto Bold"/>
                <a:ea typeface="Roboto Bold"/>
                <a:cs typeface="Roboto Bold"/>
                <a:sym typeface="Roboto Bold"/>
              </a:rPr>
              <a:t>a “Hardened”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2485523" y="2142906"/>
            <a:ext cx="0" cy="646265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2828439" y="8347783"/>
            <a:ext cx="8855896" cy="314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6"/>
              </a:lnSpc>
            </a:pPr>
            <a:r>
              <a:rPr lang="en-US" sz="2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Anál</a:t>
            </a:r>
            <a:r>
              <a:rPr lang="en-US" sz="2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isis Forense, Pentesting Post-Remediación y Plan de Respuesta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4350" y="514350"/>
            <a:ext cx="17259300" cy="9258300"/>
            <a:chOff x="0" y="0"/>
            <a:chExt cx="4545659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5659" cy="2438400"/>
            </a:xfrm>
            <a:custGeom>
              <a:avLst/>
              <a:gdLst/>
              <a:ahLst/>
              <a:cxnLst/>
              <a:rect r="r" b="b" t="t" l="l"/>
              <a:pathLst>
                <a:path h="2438400" w="4545659">
                  <a:moveTo>
                    <a:pt x="0" y="0"/>
                  </a:moveTo>
                  <a:lnTo>
                    <a:pt x="4545659" y="0"/>
                  </a:lnTo>
                  <a:lnTo>
                    <a:pt x="454565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545659" cy="249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514350" y="5520868"/>
            <a:ext cx="17259300" cy="0"/>
          </a:xfrm>
          <a:prstGeom prst="line">
            <a:avLst/>
          </a:prstGeom>
          <a:ln cap="flat" w="38100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2011729" y="5305666"/>
            <a:ext cx="3501321" cy="430405"/>
            <a:chOff x="0" y="0"/>
            <a:chExt cx="3306042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306042" cy="406400"/>
            </a:xfrm>
            <a:custGeom>
              <a:avLst/>
              <a:gdLst/>
              <a:ahLst/>
              <a:cxnLst/>
              <a:rect r="r" b="b" t="t" l="l"/>
              <a:pathLst>
                <a:path h="406400" w="3306042">
                  <a:moveTo>
                    <a:pt x="3102842" y="0"/>
                  </a:moveTo>
                  <a:cubicBezTo>
                    <a:pt x="3215066" y="0"/>
                    <a:pt x="3306042" y="90976"/>
                    <a:pt x="3306042" y="203200"/>
                  </a:cubicBezTo>
                  <a:cubicBezTo>
                    <a:pt x="3306042" y="315424"/>
                    <a:pt x="3215066" y="406400"/>
                    <a:pt x="310284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3306042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599817" y="5305666"/>
            <a:ext cx="3501321" cy="430405"/>
            <a:chOff x="0" y="0"/>
            <a:chExt cx="3306042" cy="406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306042" cy="406400"/>
            </a:xfrm>
            <a:custGeom>
              <a:avLst/>
              <a:gdLst/>
              <a:ahLst/>
              <a:cxnLst/>
              <a:rect r="r" b="b" t="t" l="l"/>
              <a:pathLst>
                <a:path h="406400" w="3306042">
                  <a:moveTo>
                    <a:pt x="3102842" y="0"/>
                  </a:moveTo>
                  <a:cubicBezTo>
                    <a:pt x="3215066" y="0"/>
                    <a:pt x="3306042" y="90976"/>
                    <a:pt x="3306042" y="203200"/>
                  </a:cubicBezTo>
                  <a:cubicBezTo>
                    <a:pt x="3306042" y="315424"/>
                    <a:pt x="3215066" y="406400"/>
                    <a:pt x="310284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3306042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87905" y="5305666"/>
            <a:ext cx="3501321" cy="430405"/>
            <a:chOff x="0" y="0"/>
            <a:chExt cx="3306042" cy="406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306042" cy="406400"/>
            </a:xfrm>
            <a:custGeom>
              <a:avLst/>
              <a:gdLst/>
              <a:ahLst/>
              <a:cxnLst/>
              <a:rect r="r" b="b" t="t" l="l"/>
              <a:pathLst>
                <a:path h="406400" w="3306042">
                  <a:moveTo>
                    <a:pt x="3102842" y="0"/>
                  </a:moveTo>
                  <a:cubicBezTo>
                    <a:pt x="3215066" y="0"/>
                    <a:pt x="3306042" y="90976"/>
                    <a:pt x="3306042" y="203200"/>
                  </a:cubicBezTo>
                  <a:cubicBezTo>
                    <a:pt x="3306042" y="315424"/>
                    <a:pt x="3215066" y="406400"/>
                    <a:pt x="310284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3306042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774951" y="5305666"/>
            <a:ext cx="3501321" cy="430405"/>
            <a:chOff x="0" y="0"/>
            <a:chExt cx="3306042" cy="406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306042" cy="406400"/>
            </a:xfrm>
            <a:custGeom>
              <a:avLst/>
              <a:gdLst/>
              <a:ahLst/>
              <a:cxnLst/>
              <a:rect r="r" b="b" t="t" l="l"/>
              <a:pathLst>
                <a:path h="406400" w="3306042">
                  <a:moveTo>
                    <a:pt x="3102842" y="0"/>
                  </a:moveTo>
                  <a:cubicBezTo>
                    <a:pt x="3215066" y="0"/>
                    <a:pt x="3306042" y="90976"/>
                    <a:pt x="3306042" y="203200"/>
                  </a:cubicBezTo>
                  <a:cubicBezTo>
                    <a:pt x="3306042" y="315424"/>
                    <a:pt x="3215066" y="406400"/>
                    <a:pt x="310284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3306042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406515" y="6090020"/>
            <a:ext cx="2711749" cy="844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7"/>
              </a:lnSpc>
            </a:pPr>
            <a:r>
              <a:rPr lang="en-US" sz="164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r>
              <a:rPr lang="en-US" sz="164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de octubre de 2024, 17:49: Acceso SSH no autorizado como root.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994603" y="6090020"/>
            <a:ext cx="2711749" cy="558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7"/>
              </a:lnSpc>
            </a:pPr>
            <a:r>
              <a:rPr lang="en-US" sz="164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Logs borrados: El atacante eliminó /var/log/auth.log.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82691" y="6090020"/>
            <a:ext cx="2711749" cy="1415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7"/>
              </a:lnSpc>
            </a:pPr>
            <a:r>
              <a:rPr lang="en-US" sz="164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lang="en-US" sz="164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uertas abiertas: SSH permitía login root con contraseña, MySQL usaba 123456, FTP expuesto, sin firewall.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169737" y="6090020"/>
            <a:ext cx="2711749" cy="558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7"/>
              </a:lnSpc>
            </a:pPr>
            <a:r>
              <a:rPr lang="en-US" sz="164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IP</a:t>
            </a:r>
            <a:r>
              <a:rPr lang="en-US" sz="164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del atacante: 192.168.0.134.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12036" y="2905161"/>
            <a:ext cx="15016579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50"/>
              </a:lnSpc>
              <a:spcBef>
                <a:spcPct val="0"/>
              </a:spcBef>
            </a:pPr>
            <a:r>
              <a:rPr lang="en-US" b="true" sz="75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El día que todo pudo salir mal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4350" y="514350"/>
            <a:ext cx="17259300" cy="9258300"/>
            <a:chOff x="0" y="0"/>
            <a:chExt cx="4545659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5659" cy="2438400"/>
            </a:xfrm>
            <a:custGeom>
              <a:avLst/>
              <a:gdLst/>
              <a:ahLst/>
              <a:cxnLst/>
              <a:rect r="r" b="b" t="t" l="l"/>
              <a:pathLst>
                <a:path h="2438400" w="4545659">
                  <a:moveTo>
                    <a:pt x="0" y="0"/>
                  </a:moveTo>
                  <a:lnTo>
                    <a:pt x="4545659" y="0"/>
                  </a:lnTo>
                  <a:lnTo>
                    <a:pt x="454565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545659" cy="249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800323" y="1277608"/>
            <a:ext cx="191294" cy="2565037"/>
            <a:chOff x="0" y="0"/>
            <a:chExt cx="40411" cy="5418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411" cy="541867"/>
            </a:xfrm>
            <a:custGeom>
              <a:avLst/>
              <a:gdLst/>
              <a:ahLst/>
              <a:cxnLst/>
              <a:rect r="r" b="b" t="t" l="l"/>
              <a:pathLst>
                <a:path h="541867" w="40411">
                  <a:moveTo>
                    <a:pt x="0" y="0"/>
                  </a:moveTo>
                  <a:lnTo>
                    <a:pt x="40411" y="0"/>
                  </a:lnTo>
                  <a:lnTo>
                    <a:pt x="40411" y="541867"/>
                  </a:lnTo>
                  <a:lnTo>
                    <a:pt x="0" y="541867"/>
                  </a:lnTo>
                  <a:close/>
                </a:path>
              </a:pathLst>
            </a:custGeom>
            <a:solidFill>
              <a:srgbClr val="5271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40411" cy="5704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800323" y="3842645"/>
            <a:ext cx="191294" cy="2565037"/>
            <a:chOff x="0" y="0"/>
            <a:chExt cx="40411" cy="5418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411" cy="541867"/>
            </a:xfrm>
            <a:custGeom>
              <a:avLst/>
              <a:gdLst/>
              <a:ahLst/>
              <a:cxnLst/>
              <a:rect r="r" b="b" t="t" l="l"/>
              <a:pathLst>
                <a:path h="541867" w="40411">
                  <a:moveTo>
                    <a:pt x="0" y="0"/>
                  </a:moveTo>
                  <a:lnTo>
                    <a:pt x="40411" y="0"/>
                  </a:lnTo>
                  <a:lnTo>
                    <a:pt x="40411" y="541867"/>
                  </a:lnTo>
                  <a:lnTo>
                    <a:pt x="0" y="541867"/>
                  </a:lnTo>
                  <a:close/>
                </a:path>
              </a:pathLst>
            </a:custGeom>
            <a:solidFill>
              <a:srgbClr val="6B83F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40411" cy="5704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800323" y="6407682"/>
            <a:ext cx="191294" cy="2565037"/>
            <a:chOff x="0" y="0"/>
            <a:chExt cx="40411" cy="5418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411" cy="541867"/>
            </a:xfrm>
            <a:custGeom>
              <a:avLst/>
              <a:gdLst/>
              <a:ahLst/>
              <a:cxnLst/>
              <a:rect r="r" b="b" t="t" l="l"/>
              <a:pathLst>
                <a:path h="541867" w="40411">
                  <a:moveTo>
                    <a:pt x="0" y="0"/>
                  </a:moveTo>
                  <a:lnTo>
                    <a:pt x="40411" y="0"/>
                  </a:lnTo>
                  <a:lnTo>
                    <a:pt x="40411" y="541867"/>
                  </a:lnTo>
                  <a:lnTo>
                    <a:pt x="0" y="541867"/>
                  </a:lnTo>
                  <a:close/>
                </a:path>
              </a:pathLst>
            </a:custGeom>
            <a:solidFill>
              <a:srgbClr val="8DA1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40411" cy="5704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352468" y="1277608"/>
            <a:ext cx="6826663" cy="886827"/>
            <a:chOff x="0" y="0"/>
            <a:chExt cx="9102218" cy="1182436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9525"/>
              <a:ext cx="9102218" cy="5203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b="true" sz="2625">
                  <a:solidFill>
                    <a:srgbClr val="5271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SSH Inseguro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732645"/>
              <a:ext cx="9102218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trike="noStrike" u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PermitRootLogin yes y autenticación por contraseña.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352468" y="2884865"/>
            <a:ext cx="6826663" cy="886827"/>
            <a:chOff x="0" y="0"/>
            <a:chExt cx="9102218" cy="1182436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9525"/>
              <a:ext cx="9102218" cy="5203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b="true" sz="2625">
                  <a:solidFill>
                    <a:srgbClr val="6B83F4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Credenciales Débiles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732645"/>
              <a:ext cx="8109613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trike="noStrike" u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La contraseña de la BD de WordPress era 123456. 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352468" y="4492121"/>
            <a:ext cx="6826663" cy="889549"/>
            <a:chOff x="0" y="0"/>
            <a:chExt cx="9102218" cy="1186065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9525"/>
              <a:ext cx="9102218" cy="5203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sz="2625" b="true">
                  <a:solidFill>
                    <a:srgbClr val="6B83F4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Credenciales Débiles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736274"/>
              <a:ext cx="8109613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Servicio</a:t>
              </a:r>
              <a:r>
                <a:rPr lang="en-US" sz="2000" strike="noStrike" u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activo y accesible desde Internet.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352468" y="6102099"/>
            <a:ext cx="6826663" cy="889549"/>
            <a:chOff x="0" y="0"/>
            <a:chExt cx="9102218" cy="1186065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0" y="9525"/>
              <a:ext cx="9102218" cy="5203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sz="2625" b="true">
                  <a:solidFill>
                    <a:srgbClr val="6B83F4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Firewall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736274"/>
              <a:ext cx="9102218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trike="noStrike" u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UFW desactivado. Todos los puertos, abiertos al mundo.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352468" y="7712077"/>
            <a:ext cx="6826663" cy="1239252"/>
            <a:chOff x="0" y="0"/>
            <a:chExt cx="9102218" cy="1652336"/>
          </a:xfrm>
        </p:grpSpPr>
        <p:sp>
          <p:nvSpPr>
            <p:cNvPr name="TextBox 27" id="27"/>
            <p:cNvSpPr txBox="true"/>
            <p:nvPr/>
          </p:nvSpPr>
          <p:spPr>
            <a:xfrm rot="0">
              <a:off x="0" y="9525"/>
              <a:ext cx="9102218" cy="5203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b="true" sz="2625">
                  <a:solidFill>
                    <a:srgbClr val="8DA1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WordPress “Desnudo”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0" y="732645"/>
              <a:ext cx="9102218" cy="9196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A</a:t>
              </a:r>
              <a:r>
                <a:rPr lang="en-US" sz="2000" strike="noStrike" u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rchivos de instalación (readme.html, license.txt) accesibles.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612036" y="5722492"/>
            <a:ext cx="6667535" cy="3250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82"/>
              </a:lnSpc>
              <a:spcBef>
                <a:spcPct val="0"/>
              </a:spcBef>
            </a:pPr>
            <a:r>
              <a:rPr lang="en-US" b="true" sz="8316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¿En serio estaba así configurado?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4350" y="514350"/>
            <a:ext cx="17259300" cy="9258300"/>
            <a:chOff x="0" y="0"/>
            <a:chExt cx="4545659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5659" cy="2438400"/>
            </a:xfrm>
            <a:custGeom>
              <a:avLst/>
              <a:gdLst/>
              <a:ahLst/>
              <a:cxnLst/>
              <a:rect r="r" b="b" t="t" l="l"/>
              <a:pathLst>
                <a:path h="2438400" w="4545659">
                  <a:moveTo>
                    <a:pt x="0" y="0"/>
                  </a:moveTo>
                  <a:lnTo>
                    <a:pt x="4545659" y="0"/>
                  </a:lnTo>
                  <a:lnTo>
                    <a:pt x="454565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545659" cy="249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550701" y="1366837"/>
            <a:ext cx="6426626" cy="296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50"/>
              </a:lnSpc>
              <a:spcBef>
                <a:spcPct val="0"/>
              </a:spcBef>
            </a:pPr>
            <a:r>
              <a:rPr lang="en-US" b="true" sz="7500" strike="noStrike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Cerrando la puerta con candado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157527" y="1482852"/>
            <a:ext cx="8066723" cy="886827"/>
            <a:chOff x="0" y="0"/>
            <a:chExt cx="10755631" cy="11824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39776" cy="1182436"/>
            </a:xfrm>
            <a:custGeom>
              <a:avLst/>
              <a:gdLst/>
              <a:ahLst/>
              <a:cxnLst/>
              <a:rect r="r" b="b" t="t" l="l"/>
              <a:pathLst>
                <a:path h="1182436" w="1239776">
                  <a:moveTo>
                    <a:pt x="0" y="0"/>
                  </a:moveTo>
                  <a:lnTo>
                    <a:pt x="1239776" y="0"/>
                  </a:lnTo>
                  <a:lnTo>
                    <a:pt x="1239776" y="1182436"/>
                  </a:lnTo>
                  <a:lnTo>
                    <a:pt x="0" y="11824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1653413" y="9525"/>
              <a:ext cx="9102218" cy="5203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b="true" sz="2625">
                  <a:solidFill>
                    <a:srgbClr val="5271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SSH Asegurado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653413" y="732645"/>
              <a:ext cx="9102218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trike="noStrike" u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PermitRootLogin no, solo claves SSH.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157527" y="3090108"/>
            <a:ext cx="8066723" cy="1239252"/>
            <a:chOff x="0" y="0"/>
            <a:chExt cx="10755631" cy="16523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39776" cy="1182436"/>
            </a:xfrm>
            <a:custGeom>
              <a:avLst/>
              <a:gdLst/>
              <a:ahLst/>
              <a:cxnLst/>
              <a:rect r="r" b="b" t="t" l="l"/>
              <a:pathLst>
                <a:path h="1182436" w="1239776">
                  <a:moveTo>
                    <a:pt x="0" y="0"/>
                  </a:moveTo>
                  <a:lnTo>
                    <a:pt x="1239776" y="0"/>
                  </a:lnTo>
                  <a:lnTo>
                    <a:pt x="1239776" y="1182436"/>
                  </a:lnTo>
                  <a:lnTo>
                    <a:pt x="0" y="11824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1653413" y="9525"/>
              <a:ext cx="9102218" cy="5203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b="true" sz="2625">
                  <a:solidFill>
                    <a:srgbClr val="6B83F4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Rotación Total de Credenciales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653413" y="732645"/>
              <a:ext cx="8109613" cy="9196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trike="noStrike" u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ontraseñas de 20+ caracteres para todo (root, MySQL, WordPress).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157527" y="4697365"/>
            <a:ext cx="8066723" cy="889549"/>
            <a:chOff x="0" y="0"/>
            <a:chExt cx="10755631" cy="118606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39776" cy="1182436"/>
            </a:xfrm>
            <a:custGeom>
              <a:avLst/>
              <a:gdLst/>
              <a:ahLst/>
              <a:cxnLst/>
              <a:rect r="r" b="b" t="t" l="l"/>
              <a:pathLst>
                <a:path h="1182436" w="1239776">
                  <a:moveTo>
                    <a:pt x="0" y="0"/>
                  </a:moveTo>
                  <a:lnTo>
                    <a:pt x="1239776" y="0"/>
                  </a:lnTo>
                  <a:lnTo>
                    <a:pt x="1239776" y="1182436"/>
                  </a:lnTo>
                  <a:lnTo>
                    <a:pt x="0" y="11824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1653413" y="9525"/>
              <a:ext cx="9102218" cy="5203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sz="2625" b="true">
                  <a:solidFill>
                    <a:srgbClr val="6B83F4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Eliminación de Servicios Innecesarios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1653413" y="736274"/>
              <a:ext cx="8109613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FTP</a:t>
              </a:r>
              <a:r>
                <a:rPr lang="en-US" sz="2000" strike="noStrike" u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(vsftpd) desinstalado.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157527" y="6307343"/>
            <a:ext cx="8540466" cy="889549"/>
            <a:chOff x="0" y="0"/>
            <a:chExt cx="11387288" cy="118606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3629"/>
              <a:ext cx="1239776" cy="1182436"/>
            </a:xfrm>
            <a:custGeom>
              <a:avLst/>
              <a:gdLst/>
              <a:ahLst/>
              <a:cxnLst/>
              <a:rect r="r" b="b" t="t" l="l"/>
              <a:pathLst>
                <a:path h="1182436" w="1239776">
                  <a:moveTo>
                    <a:pt x="0" y="0"/>
                  </a:moveTo>
                  <a:lnTo>
                    <a:pt x="1239776" y="0"/>
                  </a:lnTo>
                  <a:lnTo>
                    <a:pt x="1239776" y="1182436"/>
                  </a:lnTo>
                  <a:lnTo>
                    <a:pt x="0" y="11824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1653413" y="9525"/>
              <a:ext cx="9102218" cy="5203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sz="2625" b="true">
                  <a:solidFill>
                    <a:srgbClr val="6B83F4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Firewall Activado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653413" y="736274"/>
              <a:ext cx="9733876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trike="noStrike" u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UFW configurado, solo puertos 22 (SSH) y 80 (HTTP) abiertos.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157527" y="7917321"/>
            <a:ext cx="8066723" cy="886827"/>
            <a:chOff x="0" y="0"/>
            <a:chExt cx="10755631" cy="118243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39776" cy="1182436"/>
            </a:xfrm>
            <a:custGeom>
              <a:avLst/>
              <a:gdLst/>
              <a:ahLst/>
              <a:cxnLst/>
              <a:rect r="r" b="b" t="t" l="l"/>
              <a:pathLst>
                <a:path h="1182436" w="1239776">
                  <a:moveTo>
                    <a:pt x="0" y="0"/>
                  </a:moveTo>
                  <a:lnTo>
                    <a:pt x="1239776" y="0"/>
                  </a:lnTo>
                  <a:lnTo>
                    <a:pt x="1239776" y="1182436"/>
                  </a:lnTo>
                  <a:lnTo>
                    <a:pt x="0" y="11824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 rot="0">
              <a:off x="1653413" y="9525"/>
              <a:ext cx="9102218" cy="5203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b="true" sz="2625">
                  <a:solidFill>
                    <a:srgbClr val="8DA1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Actualización Completa del Sistema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1653413" y="732645"/>
              <a:ext cx="9102218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Todos los pa</a:t>
              </a:r>
              <a:r>
                <a:rPr lang="en-US" sz="2000" strike="noStrike" u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rches de seguridad aplicados.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4350" y="514350"/>
            <a:ext cx="17259300" cy="9258300"/>
            <a:chOff x="0" y="0"/>
            <a:chExt cx="4545659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5659" cy="2438400"/>
            </a:xfrm>
            <a:custGeom>
              <a:avLst/>
              <a:gdLst/>
              <a:ahLst/>
              <a:cxnLst/>
              <a:rect r="r" b="b" t="t" l="l"/>
              <a:pathLst>
                <a:path h="2438400" w="4545659">
                  <a:moveTo>
                    <a:pt x="0" y="0"/>
                  </a:moveTo>
                  <a:lnTo>
                    <a:pt x="4545659" y="0"/>
                  </a:lnTo>
                  <a:lnTo>
                    <a:pt x="454565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545659" cy="249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2334863" y="4836193"/>
          <a:ext cx="6600816" cy="1466850"/>
        </p:xfrm>
        <a:graphic>
          <a:graphicData uri="http://schemas.openxmlformats.org/drawingml/2006/table">
            <a:tbl>
              <a:tblPr/>
              <a:tblGrid>
                <a:gridCol w="6600816"/>
              </a:tblGrid>
              <a:tr h="1466850"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345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Listado de Directorios Ac</a:t>
                      </a:r>
                      <a:r>
                        <a:rPr lang="en-US" sz="3000" strike="noStrike" u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tivado: Cualquiera podía navegar y descargar archivos de /wp-content/uploads/ 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2334863" y="6960268"/>
          <a:ext cx="6200608" cy="1466850"/>
        </p:xfrm>
        <a:graphic>
          <a:graphicData uri="http://schemas.openxmlformats.org/drawingml/2006/table">
            <a:tbl>
              <a:tblPr/>
              <a:tblGrid>
                <a:gridCol w="6200608"/>
              </a:tblGrid>
              <a:tr h="1466850"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345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XML-RPC Habilit</a:t>
                      </a:r>
                      <a:r>
                        <a:rPr lang="en-US" sz="3000" strike="noStrike" u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ado: Puerto para ataques de fuerza bruta masiva y DDoS.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10646374" y="4836193"/>
          <a:ext cx="6200608" cy="1466850"/>
        </p:xfrm>
        <a:graphic>
          <a:graphicData uri="http://schemas.openxmlformats.org/drawingml/2006/table">
            <a:tbl>
              <a:tblPr/>
              <a:tblGrid>
                <a:gridCol w="6200608"/>
              </a:tblGrid>
              <a:tr h="1466850"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345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Finge</a:t>
                      </a:r>
                      <a:r>
                        <a:rPr lang="en-US" sz="3000" strike="noStrike" u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rprinting Fácil: Los headers HTTP revelaban versión exacta de Apache y PHP.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10646374" y="6960268"/>
          <a:ext cx="6200608" cy="1466850"/>
        </p:xfrm>
        <a:graphic>
          <a:graphicData uri="http://schemas.openxmlformats.org/drawingml/2006/table">
            <a:tbl>
              <a:tblPr/>
              <a:tblGrid>
                <a:gridCol w="6200608"/>
              </a:tblGrid>
              <a:tr h="1466850"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345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Archivos por Def</a:t>
                      </a:r>
                      <a:r>
                        <a:rPr lang="en-US" sz="3000" strike="noStrike" u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ecto: readme.html y license.txt seguían ahí, regalando información.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9" id="9"/>
          <p:cNvSpPr/>
          <p:nvPr/>
        </p:nvSpPr>
        <p:spPr>
          <a:xfrm flipH="false" flipV="false" rot="0">
            <a:off x="1028700" y="4729569"/>
            <a:ext cx="958062" cy="930191"/>
          </a:xfrm>
          <a:custGeom>
            <a:avLst/>
            <a:gdLst/>
            <a:ahLst/>
            <a:cxnLst/>
            <a:rect r="r" b="b" t="t" l="l"/>
            <a:pathLst>
              <a:path h="930191" w="958062">
                <a:moveTo>
                  <a:pt x="0" y="0"/>
                </a:moveTo>
                <a:lnTo>
                  <a:pt x="958062" y="0"/>
                </a:lnTo>
                <a:lnTo>
                  <a:pt x="958062" y="930191"/>
                </a:lnTo>
                <a:lnTo>
                  <a:pt x="0" y="9301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307154" y="4729569"/>
            <a:ext cx="958062" cy="930191"/>
          </a:xfrm>
          <a:custGeom>
            <a:avLst/>
            <a:gdLst/>
            <a:ahLst/>
            <a:cxnLst/>
            <a:rect r="r" b="b" t="t" l="l"/>
            <a:pathLst>
              <a:path h="930191" w="958062">
                <a:moveTo>
                  <a:pt x="0" y="0"/>
                </a:moveTo>
                <a:lnTo>
                  <a:pt x="958063" y="0"/>
                </a:lnTo>
                <a:lnTo>
                  <a:pt x="958063" y="930191"/>
                </a:lnTo>
                <a:lnTo>
                  <a:pt x="0" y="9301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28700" y="7009523"/>
            <a:ext cx="958062" cy="930191"/>
          </a:xfrm>
          <a:custGeom>
            <a:avLst/>
            <a:gdLst/>
            <a:ahLst/>
            <a:cxnLst/>
            <a:rect r="r" b="b" t="t" l="l"/>
            <a:pathLst>
              <a:path h="930191" w="958062">
                <a:moveTo>
                  <a:pt x="0" y="0"/>
                </a:moveTo>
                <a:lnTo>
                  <a:pt x="958062" y="0"/>
                </a:lnTo>
                <a:lnTo>
                  <a:pt x="958062" y="930191"/>
                </a:lnTo>
                <a:lnTo>
                  <a:pt x="0" y="9301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307154" y="6960268"/>
            <a:ext cx="958062" cy="930191"/>
          </a:xfrm>
          <a:custGeom>
            <a:avLst/>
            <a:gdLst/>
            <a:ahLst/>
            <a:cxnLst/>
            <a:rect r="r" b="b" t="t" l="l"/>
            <a:pathLst>
              <a:path h="930191" w="958062">
                <a:moveTo>
                  <a:pt x="0" y="0"/>
                </a:moveTo>
                <a:lnTo>
                  <a:pt x="958063" y="0"/>
                </a:lnTo>
                <a:lnTo>
                  <a:pt x="958063" y="930192"/>
                </a:lnTo>
                <a:lnTo>
                  <a:pt x="0" y="9301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064153" y="1993232"/>
            <a:ext cx="14159694" cy="2106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59"/>
              </a:lnSpc>
              <a:spcBef>
                <a:spcPct val="0"/>
              </a:spcBef>
            </a:pPr>
            <a:r>
              <a:rPr lang="en-US" b="true" sz="7999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La infraestructura está mej</a:t>
            </a:r>
            <a:r>
              <a:rPr lang="en-US" b="true" sz="7999" strike="noStrike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or… ¿Y la aplicación?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4350" y="514350"/>
            <a:ext cx="17259300" cy="9258300"/>
            <a:chOff x="0" y="0"/>
            <a:chExt cx="4545659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5659" cy="2438400"/>
            </a:xfrm>
            <a:custGeom>
              <a:avLst/>
              <a:gdLst/>
              <a:ahLst/>
              <a:cxnLst/>
              <a:rect r="r" b="b" t="t" l="l"/>
              <a:pathLst>
                <a:path h="2438400" w="4545659">
                  <a:moveTo>
                    <a:pt x="0" y="0"/>
                  </a:moveTo>
                  <a:lnTo>
                    <a:pt x="4545659" y="0"/>
                  </a:lnTo>
                  <a:lnTo>
                    <a:pt x="454565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545659" cy="249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226777" y="5259201"/>
            <a:ext cx="3635260" cy="1286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9"/>
              </a:lnSpc>
            </a:pPr>
            <a:r>
              <a:rPr lang="en-US" sz="3081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Ata</a:t>
            </a:r>
            <a:r>
              <a:rPr lang="en-US" b="true" sz="308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cante encuentra listado de directorios.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294427" y="5259201"/>
            <a:ext cx="3635260" cy="2144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9"/>
              </a:lnSpc>
            </a:pPr>
            <a:r>
              <a:rPr lang="en-US" sz="3081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</a:t>
            </a:r>
            <a:r>
              <a:rPr lang="en-US" b="true" sz="308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scarga automáticamente documentos de estudiantes (PDFs, IDs).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62078" y="5259201"/>
            <a:ext cx="3635260" cy="1715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9"/>
              </a:lnSpc>
            </a:pPr>
            <a:r>
              <a:rPr lang="en-US" sz="3081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</a:t>
            </a:r>
            <a:r>
              <a:rPr lang="en-US" b="true" sz="308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sa XML-RPC para intentar fuerza bruta amplificada en wp-admin.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425963" y="5259201"/>
            <a:ext cx="3635260" cy="1715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9"/>
              </a:lnSpc>
            </a:pPr>
            <a:r>
              <a:rPr lang="en-US" sz="3081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 tiene</a:t>
            </a:r>
            <a:r>
              <a:rPr lang="en-US" b="true" sz="308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éxito, podría defacear el sitio o robar más datos.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26777" y="3805575"/>
            <a:ext cx="909325" cy="909325"/>
            <a:chOff x="0" y="0"/>
            <a:chExt cx="1212433" cy="1212433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212433" cy="1212433"/>
              <a:chOff x="0" y="0"/>
              <a:chExt cx="6350000" cy="6350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94A4EB"/>
              </a:solidFill>
            </p:spPr>
          </p:sp>
        </p:grpSp>
        <p:sp>
          <p:nvSpPr>
            <p:cNvPr name="TextBox 12" id="12"/>
            <p:cNvSpPr txBox="true"/>
            <p:nvPr/>
          </p:nvSpPr>
          <p:spPr>
            <a:xfrm rot="0">
              <a:off x="0" y="-28295"/>
              <a:ext cx="1212433" cy="1107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7372"/>
                </a:lnSpc>
                <a:spcBef>
                  <a:spcPct val="0"/>
                </a:spcBef>
              </a:pPr>
              <a:r>
                <a:rPr lang="en-US" b="true" sz="4696" u="non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294427" y="3805575"/>
            <a:ext cx="909325" cy="909325"/>
            <a:chOff x="0" y="0"/>
            <a:chExt cx="1212433" cy="1212433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212433" cy="1212433"/>
              <a:chOff x="0" y="0"/>
              <a:chExt cx="6350000" cy="63500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94A4EB"/>
              </a:solidFill>
            </p:spPr>
          </p:sp>
        </p:grpSp>
        <p:sp>
          <p:nvSpPr>
            <p:cNvPr name="TextBox 16" id="16"/>
            <p:cNvSpPr txBox="true"/>
            <p:nvPr/>
          </p:nvSpPr>
          <p:spPr>
            <a:xfrm rot="0">
              <a:off x="0" y="-28295"/>
              <a:ext cx="1212433" cy="1107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7372"/>
                </a:lnSpc>
                <a:spcBef>
                  <a:spcPct val="0"/>
                </a:spcBef>
              </a:pPr>
              <a:r>
                <a:rPr lang="en-US" b="true" sz="4696" u="non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362078" y="3805575"/>
            <a:ext cx="909325" cy="909325"/>
            <a:chOff x="0" y="0"/>
            <a:chExt cx="1212433" cy="1212433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1212433" cy="1212433"/>
              <a:chOff x="0" y="0"/>
              <a:chExt cx="6350000" cy="63500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94A4EB"/>
              </a:solidFill>
            </p:spPr>
          </p:sp>
        </p:grpSp>
        <p:sp>
          <p:nvSpPr>
            <p:cNvPr name="TextBox 20" id="20"/>
            <p:cNvSpPr txBox="true"/>
            <p:nvPr/>
          </p:nvSpPr>
          <p:spPr>
            <a:xfrm rot="0">
              <a:off x="0" y="-28295"/>
              <a:ext cx="1212433" cy="1107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7372"/>
                </a:lnSpc>
                <a:spcBef>
                  <a:spcPct val="0"/>
                </a:spcBef>
              </a:pPr>
              <a:r>
                <a:rPr lang="en-US" b="true" sz="4696" u="non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3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425963" y="3805575"/>
            <a:ext cx="909325" cy="909325"/>
            <a:chOff x="0" y="0"/>
            <a:chExt cx="1212433" cy="1212433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1212433" cy="1212433"/>
              <a:chOff x="0" y="0"/>
              <a:chExt cx="6350000" cy="63500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94A4EB"/>
              </a:solidFill>
            </p:spPr>
          </p:sp>
        </p:grpSp>
        <p:sp>
          <p:nvSpPr>
            <p:cNvPr name="TextBox 24" id="24"/>
            <p:cNvSpPr txBox="true"/>
            <p:nvPr/>
          </p:nvSpPr>
          <p:spPr>
            <a:xfrm rot="0">
              <a:off x="0" y="-28295"/>
              <a:ext cx="1212433" cy="1107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7372"/>
                </a:lnSpc>
                <a:spcBef>
                  <a:spcPct val="0"/>
                </a:spcBef>
              </a:pPr>
              <a:r>
                <a:rPr lang="en-US" b="true" sz="469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4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226777" y="1770837"/>
            <a:ext cx="15834446" cy="103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51"/>
              </a:lnSpc>
              <a:spcBef>
                <a:spcPct val="0"/>
              </a:spcBef>
            </a:pPr>
            <a:r>
              <a:rPr lang="en-US" b="true" sz="7599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Así podría haber sid</a:t>
            </a:r>
            <a:r>
              <a:rPr lang="en-US" b="true" sz="7599" strike="noStrike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o un ataque real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26777" y="8079518"/>
            <a:ext cx="15834446" cy="560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654"/>
              </a:lnSpc>
              <a:spcBef>
                <a:spcPct val="0"/>
              </a:spcBef>
            </a:pPr>
            <a:r>
              <a:rPr lang="en-US" b="true" sz="332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Resultado</a:t>
            </a:r>
            <a:r>
              <a:rPr lang="en-US" sz="332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r>
              <a:rPr lang="en-US" sz="3324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Brecha de datos RGPD, notificación obligatoria, daño reputacional.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8602" y="5024061"/>
            <a:ext cx="2722247" cy="3503077"/>
            <a:chOff x="0" y="0"/>
            <a:chExt cx="3133810" cy="40326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33810" cy="4032690"/>
            </a:xfrm>
            <a:custGeom>
              <a:avLst/>
              <a:gdLst/>
              <a:ahLst/>
              <a:cxnLst/>
              <a:rect r="r" b="b" t="t" l="l"/>
              <a:pathLst>
                <a:path h="4032690" w="3133810">
                  <a:moveTo>
                    <a:pt x="3009350" y="4032689"/>
                  </a:moveTo>
                  <a:lnTo>
                    <a:pt x="124460" y="4032689"/>
                  </a:lnTo>
                  <a:cubicBezTo>
                    <a:pt x="55880" y="4032689"/>
                    <a:pt x="0" y="3976809"/>
                    <a:pt x="0" y="390822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009350" y="0"/>
                  </a:lnTo>
                  <a:cubicBezTo>
                    <a:pt x="3077930" y="0"/>
                    <a:pt x="3133810" y="55880"/>
                    <a:pt x="3133810" y="124460"/>
                  </a:cubicBezTo>
                  <a:lnTo>
                    <a:pt x="3133810" y="3908229"/>
                  </a:lnTo>
                  <a:cubicBezTo>
                    <a:pt x="3133810" y="3976809"/>
                    <a:pt x="3077930" y="4032690"/>
                    <a:pt x="3009350" y="4032690"/>
                  </a:cubicBezTo>
                  <a:close/>
                </a:path>
              </a:pathLst>
            </a:custGeom>
            <a:solidFill>
              <a:srgbClr val="94A4E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781503" y="5024061"/>
            <a:ext cx="2722247" cy="3503077"/>
            <a:chOff x="0" y="0"/>
            <a:chExt cx="3133810" cy="40326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133810" cy="4032690"/>
            </a:xfrm>
            <a:custGeom>
              <a:avLst/>
              <a:gdLst/>
              <a:ahLst/>
              <a:cxnLst/>
              <a:rect r="r" b="b" t="t" l="l"/>
              <a:pathLst>
                <a:path h="4032690" w="3133810">
                  <a:moveTo>
                    <a:pt x="3009350" y="4032689"/>
                  </a:moveTo>
                  <a:lnTo>
                    <a:pt x="124460" y="4032689"/>
                  </a:lnTo>
                  <a:cubicBezTo>
                    <a:pt x="55880" y="4032689"/>
                    <a:pt x="0" y="3976809"/>
                    <a:pt x="0" y="390822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009350" y="0"/>
                  </a:lnTo>
                  <a:cubicBezTo>
                    <a:pt x="3077930" y="0"/>
                    <a:pt x="3133810" y="55880"/>
                    <a:pt x="3133810" y="124460"/>
                  </a:cubicBezTo>
                  <a:lnTo>
                    <a:pt x="3133810" y="3908229"/>
                  </a:lnTo>
                  <a:cubicBezTo>
                    <a:pt x="3133810" y="3976809"/>
                    <a:pt x="3077930" y="4032690"/>
                    <a:pt x="3009350" y="4032690"/>
                  </a:cubicBezTo>
                  <a:close/>
                </a:path>
              </a:pathLst>
            </a:custGeom>
            <a:solidFill>
              <a:srgbClr val="94A4E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862953" y="5024061"/>
            <a:ext cx="2722247" cy="3503077"/>
            <a:chOff x="0" y="0"/>
            <a:chExt cx="3133810" cy="403268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33810" cy="4032690"/>
            </a:xfrm>
            <a:custGeom>
              <a:avLst/>
              <a:gdLst/>
              <a:ahLst/>
              <a:cxnLst/>
              <a:rect r="r" b="b" t="t" l="l"/>
              <a:pathLst>
                <a:path h="4032690" w="3133810">
                  <a:moveTo>
                    <a:pt x="3009350" y="4032689"/>
                  </a:moveTo>
                  <a:lnTo>
                    <a:pt x="124460" y="4032689"/>
                  </a:lnTo>
                  <a:cubicBezTo>
                    <a:pt x="55880" y="4032689"/>
                    <a:pt x="0" y="3976809"/>
                    <a:pt x="0" y="390822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009350" y="0"/>
                  </a:lnTo>
                  <a:cubicBezTo>
                    <a:pt x="3077930" y="0"/>
                    <a:pt x="3133810" y="55880"/>
                    <a:pt x="3133810" y="124460"/>
                  </a:cubicBezTo>
                  <a:lnTo>
                    <a:pt x="3133810" y="3908229"/>
                  </a:lnTo>
                  <a:cubicBezTo>
                    <a:pt x="3133810" y="3976809"/>
                    <a:pt x="3077930" y="4032690"/>
                    <a:pt x="3009350" y="4032690"/>
                  </a:cubicBezTo>
                  <a:close/>
                </a:path>
              </a:pathLst>
            </a:custGeom>
            <a:solidFill>
              <a:srgbClr val="94A4E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947150" y="5024061"/>
            <a:ext cx="2722247" cy="3503077"/>
            <a:chOff x="0" y="0"/>
            <a:chExt cx="3133810" cy="403268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33810" cy="4032690"/>
            </a:xfrm>
            <a:custGeom>
              <a:avLst/>
              <a:gdLst/>
              <a:ahLst/>
              <a:cxnLst/>
              <a:rect r="r" b="b" t="t" l="l"/>
              <a:pathLst>
                <a:path h="4032690" w="3133810">
                  <a:moveTo>
                    <a:pt x="3009350" y="4032689"/>
                  </a:moveTo>
                  <a:lnTo>
                    <a:pt x="124460" y="4032689"/>
                  </a:lnTo>
                  <a:cubicBezTo>
                    <a:pt x="55880" y="4032689"/>
                    <a:pt x="0" y="3976809"/>
                    <a:pt x="0" y="390822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009350" y="0"/>
                  </a:lnTo>
                  <a:cubicBezTo>
                    <a:pt x="3077930" y="0"/>
                    <a:pt x="3133810" y="55880"/>
                    <a:pt x="3133810" y="124460"/>
                  </a:cubicBezTo>
                  <a:lnTo>
                    <a:pt x="3133810" y="3908229"/>
                  </a:lnTo>
                  <a:cubicBezTo>
                    <a:pt x="3133810" y="3976809"/>
                    <a:pt x="3077930" y="4032690"/>
                    <a:pt x="3009350" y="4032690"/>
                  </a:cubicBezTo>
                  <a:close/>
                </a:path>
              </a:pathLst>
            </a:custGeom>
            <a:solidFill>
              <a:srgbClr val="94A4E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700052" y="5024061"/>
            <a:ext cx="2722247" cy="3503077"/>
            <a:chOff x="0" y="0"/>
            <a:chExt cx="3133810" cy="403268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133810" cy="4032690"/>
            </a:xfrm>
            <a:custGeom>
              <a:avLst/>
              <a:gdLst/>
              <a:ahLst/>
              <a:cxnLst/>
              <a:rect r="r" b="b" t="t" l="l"/>
              <a:pathLst>
                <a:path h="4032690" w="3133810">
                  <a:moveTo>
                    <a:pt x="3009350" y="4032689"/>
                  </a:moveTo>
                  <a:lnTo>
                    <a:pt x="124460" y="4032689"/>
                  </a:lnTo>
                  <a:cubicBezTo>
                    <a:pt x="55880" y="4032689"/>
                    <a:pt x="0" y="3976809"/>
                    <a:pt x="0" y="390822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009350" y="0"/>
                  </a:lnTo>
                  <a:cubicBezTo>
                    <a:pt x="3077930" y="0"/>
                    <a:pt x="3133810" y="55880"/>
                    <a:pt x="3133810" y="124460"/>
                  </a:cubicBezTo>
                  <a:lnTo>
                    <a:pt x="3133810" y="3908229"/>
                  </a:lnTo>
                  <a:cubicBezTo>
                    <a:pt x="3133810" y="3976809"/>
                    <a:pt x="3077930" y="4032690"/>
                    <a:pt x="3009350" y="4032690"/>
                  </a:cubicBezTo>
                  <a:close/>
                </a:path>
              </a:pathLst>
            </a:custGeom>
            <a:solidFill>
              <a:srgbClr val="94A4EB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3712371" y="1759862"/>
            <a:ext cx="10863257" cy="2438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600"/>
              </a:lnSpc>
              <a:spcBef>
                <a:spcPct val="0"/>
              </a:spcBef>
            </a:pPr>
            <a:r>
              <a:rPr lang="en-US" b="true" sz="8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Asegurando la Casa por Dentro También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78706" y="6754983"/>
            <a:ext cx="2181526" cy="1519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58"/>
              </a:lnSpc>
              <a:spcBef>
                <a:spcPct val="0"/>
              </a:spcBef>
            </a:pPr>
            <a:r>
              <a:rPr lang="en-US" b="true" sz="1891">
                <a:solidFill>
                  <a:srgbClr val="F6F6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</a:t>
            </a:r>
            <a:r>
              <a:rPr lang="en-US" b="true" sz="1891">
                <a:solidFill>
                  <a:srgbClr val="F6F6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stado de directorios deshabilitado: Options - indexes en apache.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78706" y="5206226"/>
            <a:ext cx="587949" cy="542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541"/>
              </a:lnSpc>
              <a:spcBef>
                <a:spcPct val="0"/>
              </a:spcBef>
            </a:pPr>
            <a:r>
              <a:rPr lang="en-US" b="true" sz="2892" u="none">
                <a:solidFill>
                  <a:srgbClr val="F6F6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041606" y="7059783"/>
            <a:ext cx="2181526" cy="1214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58"/>
              </a:lnSpc>
              <a:spcBef>
                <a:spcPct val="0"/>
              </a:spcBef>
            </a:pPr>
            <a:r>
              <a:rPr lang="en-US" b="true" sz="1891">
                <a:solidFill>
                  <a:srgbClr val="F6F6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Header</a:t>
            </a:r>
            <a:r>
              <a:rPr lang="en-US" b="true" sz="1891">
                <a:solidFill>
                  <a:srgbClr val="F6F6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 Ocultos: ServerTokens Prod para no revelar versiones.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041606" y="5206226"/>
            <a:ext cx="587949" cy="542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541"/>
              </a:lnSpc>
              <a:spcBef>
                <a:spcPct val="0"/>
              </a:spcBef>
            </a:pPr>
            <a:r>
              <a:rPr lang="en-US" b="true" sz="2892" u="none">
                <a:solidFill>
                  <a:srgbClr val="F6F6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123057" y="6450183"/>
            <a:ext cx="2181526" cy="1823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58"/>
              </a:lnSpc>
              <a:spcBef>
                <a:spcPct val="0"/>
              </a:spcBef>
            </a:pPr>
            <a:r>
              <a:rPr lang="en-US" b="true" sz="1891">
                <a:solidFill>
                  <a:srgbClr val="F6F6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Archivo</a:t>
            </a:r>
            <a:r>
              <a:rPr lang="en-US" b="true" sz="1891">
                <a:solidFill>
                  <a:srgbClr val="F6F6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 por Defecto Eliminados: readme.html y license.txt borrados.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207254" y="6450183"/>
            <a:ext cx="2181526" cy="1823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58"/>
              </a:lnSpc>
              <a:spcBef>
                <a:spcPct val="0"/>
              </a:spcBef>
            </a:pPr>
            <a:r>
              <a:rPr lang="en-US" b="true" sz="1891">
                <a:solidFill>
                  <a:srgbClr val="F6F6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Cabe</a:t>
            </a:r>
            <a:r>
              <a:rPr lang="en-US" b="true" sz="1891">
                <a:solidFill>
                  <a:srgbClr val="F6F6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ceras de Seguridad: Se añadieron X-Content-Type-Options, X-Frame-Options, etc.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209697" y="5206226"/>
            <a:ext cx="587949" cy="542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541"/>
              </a:lnSpc>
              <a:spcBef>
                <a:spcPct val="0"/>
              </a:spcBef>
            </a:pPr>
            <a:r>
              <a:rPr lang="en-US" b="true" sz="2892" u="none">
                <a:solidFill>
                  <a:srgbClr val="F6F6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04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293895" y="5206226"/>
            <a:ext cx="587949" cy="542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541"/>
              </a:lnSpc>
              <a:spcBef>
                <a:spcPct val="0"/>
              </a:spcBef>
            </a:pPr>
            <a:r>
              <a:rPr lang="en-US" b="true" sz="2892">
                <a:solidFill>
                  <a:srgbClr val="F6F6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05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960156" y="6754983"/>
            <a:ext cx="2181526" cy="1519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58"/>
              </a:lnSpc>
              <a:spcBef>
                <a:spcPct val="0"/>
              </a:spcBef>
            </a:pPr>
            <a:r>
              <a:rPr lang="en-US" b="true" sz="1891">
                <a:solidFill>
                  <a:srgbClr val="F6F6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XML-RPC Bloqu</a:t>
            </a:r>
            <a:r>
              <a:rPr lang="en-US" b="true" sz="1891">
                <a:solidFill>
                  <a:srgbClr val="F6F6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eado: Denegado via .htaccess y reglas de Apache.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960156" y="5206226"/>
            <a:ext cx="587949" cy="542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541"/>
              </a:lnSpc>
              <a:spcBef>
                <a:spcPct val="0"/>
              </a:spcBef>
            </a:pPr>
            <a:r>
              <a:rPr lang="en-US" b="true" sz="2892" u="none">
                <a:solidFill>
                  <a:srgbClr val="F6F6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40238" y="3578540"/>
            <a:ext cx="14207524" cy="3129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322"/>
              </a:lnSpc>
              <a:spcBef>
                <a:spcPct val="0"/>
              </a:spcBef>
            </a:pPr>
            <a:r>
              <a:rPr lang="en-US" b="true" sz="1026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</a:t>
            </a:r>
            <a:r>
              <a:rPr lang="en-US" b="true" sz="1026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 que este incidente nos enseñó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4350" y="514350"/>
            <a:ext cx="17259300" cy="9258300"/>
            <a:chOff x="0" y="0"/>
            <a:chExt cx="4545659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5659" cy="2438400"/>
            </a:xfrm>
            <a:custGeom>
              <a:avLst/>
              <a:gdLst/>
              <a:ahLst/>
              <a:cxnLst/>
              <a:rect r="r" b="b" t="t" l="l"/>
              <a:pathLst>
                <a:path h="2438400" w="4545659">
                  <a:moveTo>
                    <a:pt x="0" y="0"/>
                  </a:moveTo>
                  <a:lnTo>
                    <a:pt x="4545659" y="0"/>
                  </a:lnTo>
                  <a:lnTo>
                    <a:pt x="454565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545659" cy="249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12036" y="1250339"/>
            <a:ext cx="8764753" cy="1180661"/>
            <a:chOff x="0" y="0"/>
            <a:chExt cx="11686337" cy="1574215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85725"/>
              <a:ext cx="10967861" cy="1021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609"/>
                </a:lnSpc>
                <a:spcBef>
                  <a:spcPct val="0"/>
                </a:spcBef>
              </a:pPr>
              <a:r>
                <a:rPr lang="en-US" b="true" sz="5499" strike="noStrike" u="none">
                  <a:solidFill>
                    <a:srgbClr val="94A4EB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1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718476" y="144406"/>
              <a:ext cx="10967861" cy="14298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25"/>
                </a:lnSpc>
              </a:pPr>
              <a:r>
                <a:rPr lang="en-US" sz="25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Las Configuraciones por defecto son enemigas. Vienen para funcionar, no para ser seguras. Hay que hardening siempre.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12036" y="3072912"/>
            <a:ext cx="8764753" cy="830580"/>
            <a:chOff x="0" y="0"/>
            <a:chExt cx="11686337" cy="110744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85725"/>
              <a:ext cx="10967861" cy="1021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609"/>
                </a:lnSpc>
                <a:spcBef>
                  <a:spcPct val="0"/>
                </a:spcBef>
              </a:pPr>
              <a:r>
                <a:rPr lang="en-US" b="true" sz="5499" strike="noStrike" u="none">
                  <a:solidFill>
                    <a:srgbClr val="94A4EB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2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718476" y="147531"/>
              <a:ext cx="10967861" cy="9599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25"/>
                </a:lnSpc>
              </a:pPr>
              <a:r>
                <a:rPr lang="en-US" sz="25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Las credenciales débiles son el talón de aquiles. “123456” no es una contraseña, es una invitación.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12036" y="4545404"/>
            <a:ext cx="8225895" cy="1186619"/>
            <a:chOff x="0" y="0"/>
            <a:chExt cx="10967861" cy="1582159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85725"/>
              <a:ext cx="10967861" cy="1021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609"/>
                </a:lnSpc>
                <a:spcBef>
                  <a:spcPct val="0"/>
                </a:spcBef>
              </a:pPr>
              <a:r>
                <a:rPr lang="en-US" b="true" sz="5499">
                  <a:solidFill>
                    <a:srgbClr val="94A4EB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3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718476" y="152350"/>
              <a:ext cx="10042618" cy="14298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25"/>
                </a:lnSpc>
              </a:pPr>
              <a:r>
                <a:rPr lang="en-US" sz="25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La seguridad es en capas (defensa en profundidad). No basta con arreglar SSH; necesitas firewall, WAF, monitoreo…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12036" y="6373936"/>
            <a:ext cx="8225895" cy="834194"/>
            <a:chOff x="0" y="0"/>
            <a:chExt cx="10967861" cy="1112259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85725"/>
              <a:ext cx="10967861" cy="1021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609"/>
                </a:lnSpc>
                <a:spcBef>
                  <a:spcPct val="0"/>
                </a:spcBef>
              </a:pPr>
              <a:r>
                <a:rPr lang="en-US" b="true" sz="5499">
                  <a:solidFill>
                    <a:srgbClr val="94A4EB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4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718476" y="152350"/>
              <a:ext cx="10042618" cy="9599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25"/>
                </a:lnSpc>
              </a:pPr>
              <a:r>
                <a:rPr lang="en-US" sz="25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La Visibilidad es Clave. Si no monitorizas, no sabes si te atacan. ¡Y guarda los logs fuera del servidor!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12036" y="7850042"/>
            <a:ext cx="8225895" cy="1186619"/>
            <a:chOff x="0" y="0"/>
            <a:chExt cx="10967861" cy="1582159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85725"/>
              <a:ext cx="10967861" cy="1021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609"/>
                </a:lnSpc>
                <a:spcBef>
                  <a:spcPct val="0"/>
                </a:spcBef>
              </a:pPr>
              <a:r>
                <a:rPr lang="en-US" b="true" sz="5499">
                  <a:solidFill>
                    <a:srgbClr val="94A4EB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5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718476" y="152350"/>
              <a:ext cx="10042618" cy="14298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25"/>
                </a:lnSpc>
              </a:pPr>
              <a:r>
                <a:rPr lang="en-US" sz="25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Las Políticas y Procesos Salvan Vidas (Digitales). Sin un plan de respuesta, parcheo o gestión de cambios, se repiten los errores.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425422" y="514350"/>
            <a:ext cx="6348228" cy="9271328"/>
            <a:chOff x="0" y="0"/>
            <a:chExt cx="983507" cy="143637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83507" cy="1436371"/>
            </a:xfrm>
            <a:custGeom>
              <a:avLst/>
              <a:gdLst/>
              <a:ahLst/>
              <a:cxnLst/>
              <a:rect r="r" b="b" t="t" l="l"/>
              <a:pathLst>
                <a:path h="1436371" w="983507">
                  <a:moveTo>
                    <a:pt x="0" y="0"/>
                  </a:moveTo>
                  <a:lnTo>
                    <a:pt x="983507" y="0"/>
                  </a:lnTo>
                  <a:lnTo>
                    <a:pt x="983507" y="1436371"/>
                  </a:lnTo>
                  <a:lnTo>
                    <a:pt x="0" y="1436371"/>
                  </a:lnTo>
                  <a:close/>
                </a:path>
              </a:pathLst>
            </a:custGeom>
            <a:blipFill>
              <a:blip r:embed="rId2"/>
              <a:stretch>
                <a:fillRect l="-59434" t="0" r="-59434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425422" y="514350"/>
            <a:ext cx="6348228" cy="9258300"/>
            <a:chOff x="0" y="0"/>
            <a:chExt cx="1671961" cy="2438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671961" cy="2438400"/>
            </a:xfrm>
            <a:custGeom>
              <a:avLst/>
              <a:gdLst/>
              <a:ahLst/>
              <a:cxnLst/>
              <a:rect r="r" b="b" t="t" l="l"/>
              <a:pathLst>
                <a:path h="2438400" w="1671961">
                  <a:moveTo>
                    <a:pt x="0" y="0"/>
                  </a:moveTo>
                  <a:lnTo>
                    <a:pt x="1671961" y="0"/>
                  </a:lnTo>
                  <a:lnTo>
                    <a:pt x="1671961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5271FF">
                <a:alpha val="49804"/>
              </a:srgbClr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1671961" cy="249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4350" y="514350"/>
            <a:ext cx="17259300" cy="9258300"/>
            <a:chOff x="0" y="0"/>
            <a:chExt cx="4545659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5659" cy="2438400"/>
            </a:xfrm>
            <a:custGeom>
              <a:avLst/>
              <a:gdLst/>
              <a:ahLst/>
              <a:cxnLst/>
              <a:rect r="r" b="b" t="t" l="l"/>
              <a:pathLst>
                <a:path h="2438400" w="4545659">
                  <a:moveTo>
                    <a:pt x="0" y="0"/>
                  </a:moveTo>
                  <a:lnTo>
                    <a:pt x="4545659" y="0"/>
                  </a:lnTo>
                  <a:lnTo>
                    <a:pt x="454565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545659" cy="249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14350" y="501322"/>
            <a:ext cx="6348228" cy="9271328"/>
            <a:chOff x="0" y="0"/>
            <a:chExt cx="983507" cy="14363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83507" cy="1436371"/>
            </a:xfrm>
            <a:custGeom>
              <a:avLst/>
              <a:gdLst/>
              <a:ahLst/>
              <a:cxnLst/>
              <a:rect r="r" b="b" t="t" l="l"/>
              <a:pathLst>
                <a:path h="1436371" w="983507">
                  <a:moveTo>
                    <a:pt x="0" y="0"/>
                  </a:moveTo>
                  <a:lnTo>
                    <a:pt x="983507" y="0"/>
                  </a:lnTo>
                  <a:lnTo>
                    <a:pt x="983507" y="1436371"/>
                  </a:lnTo>
                  <a:lnTo>
                    <a:pt x="0" y="1436371"/>
                  </a:lnTo>
                  <a:close/>
                </a:path>
              </a:pathLst>
            </a:custGeom>
            <a:blipFill>
              <a:blip r:embed="rId2"/>
              <a:stretch>
                <a:fillRect l="-41817" t="0" r="-77387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514350" y="514350"/>
            <a:ext cx="6348228" cy="9258300"/>
            <a:chOff x="0" y="0"/>
            <a:chExt cx="1671961" cy="2438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71961" cy="2438400"/>
            </a:xfrm>
            <a:custGeom>
              <a:avLst/>
              <a:gdLst/>
              <a:ahLst/>
              <a:cxnLst/>
              <a:rect r="r" b="b" t="t" l="l"/>
              <a:pathLst>
                <a:path h="2438400" w="1671961">
                  <a:moveTo>
                    <a:pt x="0" y="0"/>
                  </a:moveTo>
                  <a:lnTo>
                    <a:pt x="1671961" y="0"/>
                  </a:lnTo>
                  <a:lnTo>
                    <a:pt x="1671961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5271FF">
                <a:alpha val="49804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671961" cy="249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443739" y="1953305"/>
            <a:ext cx="7593299" cy="199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650"/>
              </a:lnSpc>
              <a:spcBef>
                <a:spcPct val="0"/>
              </a:spcBef>
            </a:pPr>
            <a:r>
              <a:rPr lang="en-US" b="true" sz="75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Próximos pasos (</a:t>
            </a:r>
            <a:r>
              <a:rPr lang="en-US" b="true" sz="7500" strike="noStrike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roadmap visual)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443739" y="4568144"/>
            <a:ext cx="7593299" cy="3889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5"/>
              </a:lnSpc>
            </a:pPr>
            <a:r>
              <a:rPr lang="en-US" sz="250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</a:t>
            </a:r>
            <a:r>
              <a:rPr lang="en-US" sz="250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es 1-2 (Prioridad Crítica)</a:t>
            </a:r>
            <a:r>
              <a:rPr lang="en-US" sz="2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: Implementar WAF (ModSecurity), Fail2Ban, MFA para WordPress.</a:t>
            </a:r>
          </a:p>
          <a:p>
            <a:pPr algn="l">
              <a:lnSpc>
                <a:spcPts val="2825"/>
              </a:lnSpc>
            </a:pPr>
          </a:p>
          <a:p>
            <a:pPr algn="l">
              <a:lnSpc>
                <a:spcPts val="2825"/>
              </a:lnSpc>
            </a:pPr>
            <a:r>
              <a:rPr lang="en-US" sz="250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Mes 3-4 (Fortificación)</a:t>
            </a:r>
            <a:r>
              <a:rPr lang="en-US" sz="2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: Monitoreo centralizado de logs (SIEM), backups automatizados y verificados.</a:t>
            </a:r>
          </a:p>
          <a:p>
            <a:pPr algn="l">
              <a:lnSpc>
                <a:spcPts val="2825"/>
              </a:lnSpc>
            </a:pPr>
          </a:p>
          <a:p>
            <a:pPr algn="l">
              <a:lnSpc>
                <a:spcPts val="2825"/>
              </a:lnSpc>
            </a:pPr>
            <a:r>
              <a:rPr lang="en-US" sz="250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Mes 5-6 (Madurez)</a:t>
            </a:r>
            <a:r>
              <a:rPr lang="en-US" sz="2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: Segmentación de red, auditorías de código, certificación ISO 27001.</a:t>
            </a:r>
          </a:p>
          <a:p>
            <a:pPr algn="l">
              <a:lnSpc>
                <a:spcPts val="2825"/>
              </a:lnSpc>
            </a:pPr>
          </a:p>
          <a:p>
            <a:pPr algn="l">
              <a:lnSpc>
                <a:spcPts val="2825"/>
              </a:lnSpc>
            </a:pPr>
            <a:r>
              <a:rPr lang="en-US" sz="250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Siempre</a:t>
            </a:r>
            <a:r>
              <a:rPr lang="en-US" sz="2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: Formación continua, simulacros de phishing, mejora de procesos.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4350" y="514350"/>
            <a:ext cx="17259300" cy="9258300"/>
            <a:chOff x="0" y="0"/>
            <a:chExt cx="4545659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5659" cy="2438400"/>
            </a:xfrm>
            <a:custGeom>
              <a:avLst/>
              <a:gdLst/>
              <a:ahLst/>
              <a:cxnLst/>
              <a:rect r="r" b="b" t="t" l="l"/>
              <a:pathLst>
                <a:path h="2438400" w="4545659">
                  <a:moveTo>
                    <a:pt x="0" y="0"/>
                  </a:moveTo>
                  <a:lnTo>
                    <a:pt x="4545659" y="0"/>
                  </a:lnTo>
                  <a:lnTo>
                    <a:pt x="454565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545659" cy="249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419391" y="3373689"/>
            <a:ext cx="11449218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50"/>
              </a:lnSpc>
              <a:spcBef>
                <a:spcPct val="0"/>
              </a:spcBef>
            </a:pPr>
            <a:r>
              <a:rPr lang="en-US" b="true" sz="7500" strike="noStrike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Conclusiones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381636" y="4909886"/>
            <a:ext cx="9524728" cy="2127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5"/>
              </a:lnSpc>
            </a:pPr>
            <a:r>
              <a:rPr lang="en-US" sz="2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Est</a:t>
            </a:r>
            <a:r>
              <a:rPr lang="en-US" sz="2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 incidente transformó nuestra postura de seguridad. Pasamos de Riesgo CRÍTICO a Riesgo MEDIO-BAJO. La seguridad es un proceso continuo, no un destino.</a:t>
            </a:r>
          </a:p>
          <a:p>
            <a:pPr algn="ctr">
              <a:lnSpc>
                <a:spcPts val="2825"/>
              </a:lnSpc>
            </a:pPr>
          </a:p>
          <a:p>
            <a:pPr algn="ctr">
              <a:lnSpc>
                <a:spcPts val="2825"/>
              </a:lnSpc>
            </a:pPr>
            <a:r>
              <a:rPr lang="en-US" sz="250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Objetivo</a:t>
            </a:r>
            <a:r>
              <a:rPr lang="en-US" sz="2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: Ser un referente en protección de datos en el sector educativo.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4350" y="514350"/>
            <a:ext cx="17259300" cy="9258300"/>
            <a:chOff x="0" y="0"/>
            <a:chExt cx="4545659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5659" cy="2438400"/>
            </a:xfrm>
            <a:custGeom>
              <a:avLst/>
              <a:gdLst/>
              <a:ahLst/>
              <a:cxnLst/>
              <a:rect r="r" b="b" t="t" l="l"/>
              <a:pathLst>
                <a:path h="2438400" w="4545659">
                  <a:moveTo>
                    <a:pt x="0" y="0"/>
                  </a:moveTo>
                  <a:lnTo>
                    <a:pt x="4545659" y="0"/>
                  </a:lnTo>
                  <a:lnTo>
                    <a:pt x="454565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545659" cy="249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127231" y="3321182"/>
            <a:ext cx="10472652" cy="2059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22"/>
              </a:lnSpc>
            </a:pPr>
            <a:r>
              <a:rPr lang="en-US" sz="12015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Gracias por su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127231" y="4668486"/>
            <a:ext cx="10472652" cy="2059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22"/>
              </a:lnSpc>
            </a:pPr>
            <a:r>
              <a:rPr lang="en-US" sz="12015" b="true">
                <a:solidFill>
                  <a:srgbClr val="5271FF"/>
                </a:solidFill>
                <a:latin typeface="Roboto Bold"/>
                <a:ea typeface="Roboto Bold"/>
                <a:cs typeface="Roboto Bold"/>
                <a:sym typeface="Roboto Bold"/>
              </a:rPr>
              <a:t>atención</a:t>
            </a:r>
          </a:p>
        </p:txBody>
      </p:sp>
      <p:sp>
        <p:nvSpPr>
          <p:cNvPr name="AutoShape 7" id="7"/>
          <p:cNvSpPr/>
          <p:nvPr/>
        </p:nvSpPr>
        <p:spPr>
          <a:xfrm flipH="true" flipV="true">
            <a:off x="3707167" y="3204544"/>
            <a:ext cx="0" cy="387791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DAHAStJyWwk</dc:identifier>
  <dcterms:modified xsi:type="dcterms:W3CDTF">2011-08-01T06:04:30Z</dcterms:modified>
  <cp:revision>1</cp:revision>
  <dc:title>De “Hackeado” a “Hardened”:</dc:title>
</cp:coreProperties>
</file>